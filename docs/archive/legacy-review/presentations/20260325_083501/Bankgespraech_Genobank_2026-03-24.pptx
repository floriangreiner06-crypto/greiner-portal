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Auftragseingang (Anzahl Verträge)</c:v>
                </c:pt>
              </c:strCache>
            </c:strRef>
          </c:tx>
          <c:spPr>
            <a:solidFill>
              <a:srgbClr val="1D804C"/>
            </a:solidFill>
          </c:spPr>
          <c:cat>
            <c:strRef>
              <c:f>Sheet1!$A$2:$A$9</c:f>
              <c:strCache>
                <c:ptCount val="8"/>
                <c:pt idx="0">
                  <c:v>Sep 25</c:v>
                </c:pt>
                <c:pt idx="1">
                  <c:v>Okt 25</c:v>
                </c:pt>
                <c:pt idx="2">
                  <c:v>Nov 25</c:v>
                </c:pt>
                <c:pt idx="3">
                  <c:v>Dez 25</c:v>
                </c:pt>
                <c:pt idx="4">
                  <c:v>Jan 26</c:v>
                </c:pt>
                <c:pt idx="5">
                  <c:v>Feb 26</c:v>
                </c:pt>
                <c:pt idx="6">
                  <c:v>Mrz 26</c:v>
                </c:pt>
                <c:pt idx="7">
                  <c:v>Mrz 26 Hochr.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133</c:v>
                </c:pt>
                <c:pt idx="1">
                  <c:v>102</c:v>
                </c:pt>
                <c:pt idx="2">
                  <c:v>121</c:v>
                </c:pt>
                <c:pt idx="3">
                  <c:v>73</c:v>
                </c:pt>
                <c:pt idx="4">
                  <c:v>102</c:v>
                </c:pt>
                <c:pt idx="5">
                  <c:v>146</c:v>
                </c:pt>
                <c:pt idx="6">
                  <c:v>134</c:v>
                </c:pt>
                <c:pt idx="7">
                  <c:v>173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>
                  <a:solidFill>
                    <a:srgbClr val="0C2C55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2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A6473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>
              <a:solidFill>
                <a:srgbClr val="DCE2EA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5A6473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Werkstatt DB1</c:v>
                </c:pt>
              </c:strCache>
            </c:strRef>
          </c:tx>
          <c:spPr>
            <a:ln w="31750">
              <a:solidFill>
                <a:srgbClr val="1D804C"/>
              </a:solidFill>
            </a:ln>
          </c:spPr>
          <c:marker>
            <c:symbol val="circle"/>
            <c:size val="7"/>
            <c:spPr>
              <a:solidFill>
                <a:srgbClr val="1D804C"/>
              </a:solidFill>
            </c:spPr>
          </c:marker>
          <c:cat>
            <c:strRef>
              <c:f>Sheet1!$A$2:$A$8</c:f>
              <c:strCache>
                <c:ptCount val="7"/>
                <c:pt idx="0">
                  <c:v>Sep 25</c:v>
                </c:pt>
                <c:pt idx="1">
                  <c:v>Okt 25</c:v>
                </c:pt>
                <c:pt idx="2">
                  <c:v>Nov 25</c:v>
                </c:pt>
                <c:pt idx="3">
                  <c:v>Dez 25</c:v>
                </c:pt>
                <c:pt idx="4">
                  <c:v>Jan 26</c:v>
                </c:pt>
                <c:pt idx="5">
                  <c:v>Feb 26</c:v>
                </c:pt>
                <c:pt idx="6">
                  <c:v>Mrz 26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114176</c:v>
                </c:pt>
                <c:pt idx="1">
                  <c:v>119421</c:v>
                </c:pt>
                <c:pt idx="2">
                  <c:v>145879</c:v>
                </c:pt>
                <c:pt idx="3">
                  <c:v>86419</c:v>
                </c:pt>
                <c:pt idx="4">
                  <c:v>117668</c:v>
                </c:pt>
                <c:pt idx="5">
                  <c:v>75797</c:v>
                </c:pt>
                <c:pt idx="6">
                  <c:v>88358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T+Z DB1</c:v>
                </c:pt>
              </c:strCache>
            </c:strRef>
          </c:tx>
          <c:spPr>
            <a:ln w="31750">
              <a:solidFill>
                <a:srgbClr val="008C8C"/>
              </a:solidFill>
            </a:ln>
          </c:spPr>
          <c:marker>
            <c:symbol val="circle"/>
            <c:size val="7"/>
            <c:spPr>
              <a:solidFill>
                <a:srgbClr val="008C8C"/>
              </a:solidFill>
            </c:spPr>
          </c:marker>
          <c:cat>
            <c:strRef>
              <c:f>Sheet1!$A$2:$A$8</c:f>
              <c:strCache>
                <c:ptCount val="7"/>
                <c:pt idx="0">
                  <c:v>Sep 25</c:v>
                </c:pt>
                <c:pt idx="1">
                  <c:v>Okt 25</c:v>
                </c:pt>
                <c:pt idx="2">
                  <c:v>Nov 25</c:v>
                </c:pt>
                <c:pt idx="3">
                  <c:v>Dez 25</c:v>
                </c:pt>
                <c:pt idx="4">
                  <c:v>Jan 26</c:v>
                </c:pt>
                <c:pt idx="5">
                  <c:v>Feb 26</c:v>
                </c:pt>
                <c:pt idx="6">
                  <c:v>Mrz 26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16755</c:v>
                </c:pt>
                <c:pt idx="1">
                  <c:v>16942</c:v>
                </c:pt>
                <c:pt idx="2">
                  <c:v>26486</c:v>
                </c:pt>
                <c:pt idx="3">
                  <c:v>11995</c:v>
                </c:pt>
                <c:pt idx="4">
                  <c:v>22750</c:v>
                </c:pt>
                <c:pt idx="5">
                  <c:v>3783</c:v>
                </c:pt>
                <c:pt idx="6">
                  <c:v>13037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A6473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>
              <a:solidFill>
                <a:srgbClr val="DCE2EA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A6473"/>
                </a:solidFill>
              </a:defRPr>
            </a:pPr>
          </a:p>
        </c:txPr>
        <c:crossAx val="2118791784"/>
        <c:crosses val="autoZero"/>
      </c:valAx>
    </c:plotArea>
    <c:legend>
      <c:legendPos val="t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NW DB1</c:v>
                </c:pt>
              </c:strCache>
            </c:strRef>
          </c:tx>
          <c:spPr>
            <a:ln w="31750">
              <a:solidFill>
                <a:srgbClr val="1D804C"/>
              </a:solidFill>
            </a:ln>
          </c:spPr>
          <c:marker>
            <c:symbol val="circle"/>
            <c:size val="7"/>
            <c:spPr>
              <a:solidFill>
                <a:srgbClr val="1D804C"/>
              </a:solidFill>
            </c:spPr>
          </c:marker>
          <c:cat>
            <c:strRef>
              <c:f>Sheet1!$A$2:$A$8</c:f>
              <c:strCache>
                <c:ptCount val="7"/>
                <c:pt idx="0">
                  <c:v>Sep 25</c:v>
                </c:pt>
                <c:pt idx="1">
                  <c:v>Okt 25</c:v>
                </c:pt>
                <c:pt idx="2">
                  <c:v>Nov 25</c:v>
                </c:pt>
                <c:pt idx="3">
                  <c:v>Dez 25</c:v>
                </c:pt>
                <c:pt idx="4">
                  <c:v>Jan 26</c:v>
                </c:pt>
                <c:pt idx="5">
                  <c:v>Feb 26</c:v>
                </c:pt>
                <c:pt idx="6">
                  <c:v>Mrz 26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71810</c:v>
                </c:pt>
                <c:pt idx="1">
                  <c:v>188535</c:v>
                </c:pt>
                <c:pt idx="2">
                  <c:v>93272</c:v>
                </c:pt>
                <c:pt idx="3">
                  <c:v>79706</c:v>
                </c:pt>
                <c:pt idx="4">
                  <c:v>108675</c:v>
                </c:pt>
                <c:pt idx="5">
                  <c:v>113197</c:v>
                </c:pt>
                <c:pt idx="6">
                  <c:v>112807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GW DB1</c:v>
                </c:pt>
              </c:strCache>
            </c:strRef>
          </c:tx>
          <c:spPr>
            <a:ln w="31750">
              <a:solidFill>
                <a:srgbClr val="2D73BE"/>
              </a:solidFill>
            </a:ln>
          </c:spPr>
          <c:marker>
            <c:symbol val="circle"/>
            <c:size val="7"/>
            <c:spPr>
              <a:solidFill>
                <a:srgbClr val="2D73BE"/>
              </a:solidFill>
            </c:spPr>
          </c:marker>
          <c:cat>
            <c:strRef>
              <c:f>Sheet1!$A$2:$A$8</c:f>
              <c:strCache>
                <c:ptCount val="7"/>
                <c:pt idx="0">
                  <c:v>Sep 25</c:v>
                </c:pt>
                <c:pt idx="1">
                  <c:v>Okt 25</c:v>
                </c:pt>
                <c:pt idx="2">
                  <c:v>Nov 25</c:v>
                </c:pt>
                <c:pt idx="3">
                  <c:v>Dez 25</c:v>
                </c:pt>
                <c:pt idx="4">
                  <c:v>Jan 26</c:v>
                </c:pt>
                <c:pt idx="5">
                  <c:v>Feb 26</c:v>
                </c:pt>
                <c:pt idx="6">
                  <c:v>Mrz 26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-73272</c:v>
                </c:pt>
                <c:pt idx="1">
                  <c:v>-20274</c:v>
                </c:pt>
                <c:pt idx="2">
                  <c:v>-14065</c:v>
                </c:pt>
                <c:pt idx="3">
                  <c:v>35822</c:v>
                </c:pt>
                <c:pt idx="4">
                  <c:v>39218</c:v>
                </c:pt>
                <c:pt idx="5">
                  <c:v>22641</c:v>
                </c:pt>
                <c:pt idx="6">
                  <c:v>77547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A6473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>
              <a:solidFill>
                <a:srgbClr val="DCE2EA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A6473"/>
                </a:solidFill>
              </a:defRPr>
            </a:pPr>
          </a:p>
        </c:txPr>
        <c:crossAx val="2118791784"/>
        <c:crosses val="autoZero"/>
      </c:valAx>
    </c:plotArea>
    <c:legend>
      <c:legendPos val="t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566928"/>
            <a:ext cx="11155680" cy="640080"/>
          </a:xfrm>
        </p:spPr>
        <p:txBody>
          <a:bodyPr/>
          <a:lstStyle/>
          <a:p>
            <a:r>
              <a:rPr sz="3400" b="1">
                <a:solidFill>
                  <a:srgbClr val="0C2C55"/>
                </a:solidFill>
                <a:latin typeface="Calibri"/>
              </a:rPr>
              <a:t>Geschäftsentwicklung seit September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417320"/>
            <a:ext cx="10881360" cy="4480560"/>
          </a:xfrm>
        </p:spPr>
        <p:txBody>
          <a:bodyPr/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  <a:latin typeface="Calibri"/>
              </a:defRPr>
            </a:pPr>
            <a:r>
              <a:t>Mit unserem internen Steuerungsinstrument steuern wir heute deutlich datenbasierter und schneller als zuvor.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  <a:latin typeface="Calibri"/>
              </a:defRPr>
            </a:pPr>
            <a:r>
              <a:t>KPIs aus Controlling, Werkstatt und Verkauf werden laufend konsistent ausgewertet (eine einheitliche Kennzahlenlogik).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  <a:latin typeface="Calibri"/>
              </a:defRPr>
            </a:pPr>
            <a:r>
              <a:t>Abweichungen werden früh erkannt und direkt in operative Maßnahmen übersetzt.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  <a:latin typeface="Calibri"/>
              </a:defRPr>
            </a:pPr>
            <a:r>
              <a:t>Ergebnis: höhere Planbarkeit bei Ertrag, Liquidität und Bestandsrisiken.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C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8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0" y="642823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473"/>
                </a:solidFill>
                <a:latin typeface="Calibri"/>
              </a:defRPr>
            </a:pPr>
            <a:r>
              <a:t>Genobank Gespräch | 1/3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566928"/>
            <a:ext cx="11155680" cy="640080"/>
          </a:xfrm>
        </p:spPr>
        <p:txBody>
          <a:bodyPr/>
          <a:lstStyle/>
          <a:p>
            <a:r>
              <a:rPr sz="3400" b="1">
                <a:solidFill>
                  <a:srgbClr val="0C2C55"/>
                </a:solidFill>
                <a:latin typeface="Calibri"/>
              </a:rPr>
              <a:t>Wirkung in den Kernbereichen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417320"/>
            <a:ext cx="10881360" cy="4572000"/>
          </a:xfrm>
        </p:spPr>
        <p:txBody>
          <a:bodyPr/>
          <a:lstStyle/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Calibri"/>
              </a:defRPr>
            </a:pPr>
            <a:r>
              <a:t>AfA-pflichtige Fahrzeuge: aktive Überwachung von Standzeit, Buchwert und Zinswirkung; klare Abverkaufs-Priorisierung reduziert Kapitalbindung.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Calibri"/>
              </a:defRPr>
            </a:pPr>
            <a:r>
              <a:t>Werkstatt-KPI-Entwicklung: bessere Transparenz über Auslastung, Auftragsstatus und Leistung; dadurch gezieltere Tagessteuerung.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Calibri"/>
              </a:defRPr>
            </a:pPr>
            <a:r>
              <a:t>Auftragseingang &amp; Forecast: laufender Zielabgleich, frühere Trend-Erkennung und schnelleres Nachsteuern im Vertrieb.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Calibri"/>
              </a:defRPr>
            </a:pPr>
            <a:r>
              <a:t>Gesamtbild: stabil positiver Trend und professionellere Unternehmenssteuerung.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C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8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0" y="642823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473"/>
                </a:solidFill>
                <a:latin typeface="Calibri"/>
              </a:defRPr>
            </a:pPr>
            <a:r>
              <a:t>Genobank Gespräch | 2/3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566928"/>
            <a:ext cx="11155680" cy="640080"/>
          </a:xfrm>
        </p:spPr>
        <p:txBody>
          <a:bodyPr/>
          <a:lstStyle/>
          <a:p>
            <a:r>
              <a:rPr sz="3400" b="1">
                <a:solidFill>
                  <a:srgbClr val="0C2C55"/>
                </a:solidFill>
                <a:latin typeface="Calibri"/>
              </a:rPr>
              <a:t>Chart: Auftragseingang seit September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C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8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68680" y="1417320"/>
          <a:ext cx="10835640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68680" y="5669280"/>
            <a:ext cx="108356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C2C55"/>
                </a:solidFill>
                <a:latin typeface="Calibri"/>
              </a:defRPr>
            </a:pPr>
            <a:r>
              <a:t>März-Trend: 134 Verträge bis 24.03. | Hochrechnung Monatsende: ca. 173 Verträge.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42823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473"/>
                </a:solidFill>
                <a:latin typeface="Calibri"/>
              </a:defRPr>
            </a:pPr>
            <a:r>
              <a:t>Genobank Gespräch | 3/3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566928"/>
            <a:ext cx="11155680" cy="0"/>
          </a:xfrm>
        </p:spPr>
        <p:txBody>
          <a:bodyPr/>
          <a:lstStyle/>
          <a:p>
            <a:r>
              <a:rPr sz="3200" b="1">
                <a:solidFill>
                  <a:srgbClr val="0C2C55"/>
                </a:solidFill>
                <a:latin typeface="Calibri"/>
              </a:rPr>
              <a:t>KPI-Entwicklung Werkstatt und T+Z (DB1)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C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8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417320"/>
          <a:ext cx="1088136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" y="5669280"/>
            <a:ext cx="108813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C2C55"/>
                </a:solidFill>
                <a:latin typeface="Calibri"/>
              </a:defRPr>
            </a:pPr>
            <a:r>
              <a:t>Aussage: Nach der Februar-Delle zeigt der März in beiden Bereichen wieder einen positiven Gegentrend (laufender Monat).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42823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473"/>
                </a:solidFill>
                <a:latin typeface="Calibri"/>
              </a:defRPr>
            </a:pPr>
            <a:r>
              <a:t>Genobank Gespräch | 4/4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566928"/>
            <a:ext cx="11155680" cy="0"/>
          </a:xfrm>
        </p:spPr>
        <p:txBody>
          <a:bodyPr/>
          <a:lstStyle/>
          <a:p>
            <a:r>
              <a:rPr sz="3200" b="1">
                <a:solidFill>
                  <a:srgbClr val="0C2C55"/>
                </a:solidFill>
                <a:latin typeface="Calibri"/>
              </a:rPr>
              <a:t>KPI-Entwicklung NW und GW (DB1)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C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8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417320"/>
          <a:ext cx="1088136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" y="5669280"/>
            <a:ext cx="108813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C2C55"/>
                </a:solidFill>
                <a:latin typeface="Calibri"/>
              </a:defRPr>
            </a:pPr>
            <a:r>
              <a:t>Aussage: NW und GW zeigen seit Herbst insgesamt tragfähige DB-Niveaus; im März bleibt die Entwicklung auf Kurs (laufender Monat).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42823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473"/>
                </a:solidFill>
                <a:latin typeface="Calibri"/>
              </a:defRPr>
            </a:pPr>
            <a:r>
              <a:t>Genobank Gespräch | 5/5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566928"/>
            <a:ext cx="11155680" cy="0"/>
          </a:xfrm>
        </p:spPr>
        <p:txBody>
          <a:bodyPr/>
          <a:lstStyle/>
          <a:p>
            <a:r>
              <a:rPr sz="3200" b="1">
                <a:solidFill>
                  <a:srgbClr val="0C2C55"/>
                </a:solidFill>
                <a:latin typeface="Calibri"/>
              </a:rPr>
              <a:t>Rasante Entwicklung und nächster Horizont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463040"/>
            <a:ext cx="10881360" cy="4389120"/>
          </a:xfrm>
        </p:spPr>
        <p:txBody>
          <a:bodyPr/>
          <a:lstStyle/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Calibri"/>
              </a:defRPr>
            </a:pPr>
            <a:r>
              <a:t>Seit September hat sich unser internes Steuerungsinstrument mit hoher Umsetzungsgeschwindigkeit zu einer belastbaren Management-Plattform entwickelt.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Calibri"/>
              </a:defRPr>
            </a:pPr>
            <a:r>
              <a:t>Automatisierte Garantieakte-Erstellung und KI-unterstützte Garantieprüfung erhöhen Prozessqualität und Geschwindigkeit im After Sales.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Calibri"/>
              </a:defRPr>
            </a:pPr>
            <a:r>
              <a:t>Automatische Überwachung der Kontensalden mit klaren Alerts schafft Transparenz über Liquiditätsrisiken in Echtzeit.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Calibri"/>
              </a:defRPr>
            </a:pPr>
            <a:r>
              <a:t>EKF-Handlungsempfehlungen unterstützen den aktiven Abbau von Kapitalbindung und verbessern die Zins- und Bestandssteuerung.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Calibri"/>
              </a:defRPr>
            </a:pPr>
            <a:r>
              <a:t>Entwicklungshorizont: Prototyp „DRIVE Navigator“ (Arbeitsname) als Frontendless Assistenz – Fragen in natürlicher Sprache statt Menüs und Reportsuche.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Calibri"/>
              </a:defRPr>
            </a:pPr>
            <a:r>
              <a:t>Beispiel: „Wie ist unser Auftragseingang diese Woche vs. Vorwoche, welche EKF-Fahrzeuge verursachen die höchsten Zinsen und welche Termine sind heute kritisch?“ – der Assistent liefert Antwort + Handlungsempfehlung in einem Schritt.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Calibri"/>
              </a:defRPr>
            </a:pPr>
            <a:r>
              <a:t>Vision: Anbindung an Chat-Roboter und perspektivisch Telefonanlage (Voice) auch für Kunden-Inbound: automatische Erstantwort, intelligente Vorqualifizierung, Termin-/Rückrufsteuerung und nahtlose Übergabe an das Team.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C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8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5806440"/>
            <a:ext cx="108813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C2C55"/>
                </a:solidFill>
                <a:latin typeface="Calibri"/>
              </a:defRPr>
            </a:pPr>
            <a:r>
              <a:t>Fazit: Wir entwickeln von KPI-Transparenz zur dialogbasierten Unternehmenssteuerung und Kunden-Inbound-Bearbeitung in Echtzeit.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42823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473"/>
                </a:solidFill>
                <a:latin typeface="Calibri"/>
              </a:defRPr>
            </a:pPr>
            <a:r>
              <a:t>Genobank Gespräch | 6/6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566928"/>
            <a:ext cx="11155680" cy="0"/>
          </a:xfrm>
        </p:spPr>
        <p:txBody>
          <a:bodyPr/>
          <a:lstStyle/>
          <a:p>
            <a:r>
              <a:rPr sz="3200" b="1">
                <a:solidFill>
                  <a:srgbClr val="0C2C55"/>
                </a:solidFill>
                <a:latin typeface="Calibri"/>
              </a:rPr>
              <a:t>Technische Basis (kurz)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417320"/>
            <a:ext cx="10881360" cy="4480560"/>
          </a:xfrm>
        </p:spPr>
        <p:txBody>
          <a:bodyPr/>
          <a:lstStyle/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Calibri"/>
              </a:defRPr>
            </a:pPr>
            <a:r>
              <a:t>Backend in Python (Flask) mit PostgreSQL als zentrale Datenbasis und rollenbasiertem Zugriff.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Calibri"/>
              </a:defRPr>
            </a:pPr>
            <a:r>
              <a:t>Automatisierung über Celery-Jobs (u. a. Reports, Datenimporte, Prüf- und Monitoringläufe).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Calibri"/>
              </a:defRPr>
            </a:pPr>
            <a:r>
              <a:t>Echtzeitnahe Integrationen zu operativen Systemen (z. B. Locosoft, Gudat, Finanz-/Bestandsdaten).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Calibri"/>
              </a:defRPr>
            </a:pPr>
            <a:r>
              <a:t>Einheitliche KPI-Logik (Single Source of Truth) für Portal, E-Mail-Reports und Forecasts.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Calibri"/>
              </a:defRPr>
            </a:pPr>
            <a:r>
              <a:t>KI-Bausteine bereits produktiv: Klassifizierung, Empfehlungen, Assistenzprozesse und Prototyping.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C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8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5760720"/>
            <a:ext cx="108813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C2C55"/>
                </a:solidFill>
                <a:latin typeface="Calibri"/>
              </a:defRPr>
            </a:pPr>
            <a:r>
              <a:t>Konservative Bewertung des geschaffenen Entwicklungswerts: ca. 400.000 EUR.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42823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473"/>
                </a:solidFill>
                <a:latin typeface="Calibri"/>
              </a:defRPr>
            </a:pPr>
            <a:r>
              <a:t>Genobank Gespräch | 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